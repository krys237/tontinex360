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TONTINEX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349240" y="777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Gestion des Associations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Tontines Camerounaises (Grassfield)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97280" cy="36576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 — Backend &amp;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|  Multi-tenant  |  Temps reel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8600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2336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072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9808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Papier au Digital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Cahiers &amp; formulaires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manuels, pertes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saisie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9601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96012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Aucune tracabilite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paye ? Qui doit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beneficie 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6012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orale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417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bouche-a-oreille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non informes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377440"/>
            <a:ext cx="365760" cy="3657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29718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971800"/>
            <a:ext cx="2560320" cy="4572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3108960"/>
            <a:ext cx="347472" cy="347472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3195828"/>
            <a:ext cx="173736" cy="1737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Mobile-first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858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383280" y="29718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383280" y="2971800"/>
            <a:ext cx="2560320" cy="45720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24" name="Shape 20"/>
          <p:cNvSpPr/>
          <p:nvPr/>
        </p:nvSpPr>
        <p:spPr>
          <a:xfrm>
            <a:off x="3520440" y="3108960"/>
            <a:ext cx="347472" cy="347472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3195828"/>
            <a:ext cx="173736" cy="1737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319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automatisee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52044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Cagnotte, prets, wallets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calcule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17920" y="29718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17920" y="2971800"/>
            <a:ext cx="2560320" cy="4572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30" name="Shape 25"/>
          <p:cNvSpPr/>
          <p:nvPr/>
        </p:nvSpPr>
        <p:spPr>
          <a:xfrm>
            <a:off x="6355080" y="3108960"/>
            <a:ext cx="347472" cy="347472"/>
          </a:xfrm>
          <a:prstGeom prst="ellipse">
            <a:avLst/>
          </a:prstGeom>
          <a:solidFill>
            <a:srgbClr val="E8A948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3195828"/>
            <a:ext cx="173736" cy="1737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665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temps reel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35508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SMS, push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284732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/ Django 5.1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005840"/>
            <a:ext cx="256032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188720"/>
            <a:ext cx="384048" cy="384048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284732"/>
            <a:ext cx="192024" cy="192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02336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multi-tenant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005840"/>
            <a:ext cx="256032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6" name="Shape 12"/>
          <p:cNvSpPr/>
          <p:nvPr/>
        </p:nvSpPr>
        <p:spPr>
          <a:xfrm>
            <a:off x="6355080" y="118872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1284732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Temps reel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Jitsi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2834640"/>
            <a:ext cx="256032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113532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Taches async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8872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taches planifiees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83280" y="2834640"/>
            <a:ext cx="256032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6" name="Shape 20"/>
          <p:cNvSpPr/>
          <p:nvPr/>
        </p:nvSpPr>
        <p:spPr>
          <a:xfrm>
            <a:off x="3520440" y="3017520"/>
            <a:ext cx="384048" cy="384048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452" y="3113532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02336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(SimpleJWT)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telephone + FCM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2834640"/>
            <a:ext cx="256032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1" name="Shape 24"/>
          <p:cNvSpPr/>
          <p:nvPr/>
        </p:nvSpPr>
        <p:spPr>
          <a:xfrm>
            <a:off x="6355080" y="3017520"/>
            <a:ext cx="384048" cy="384048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092" y="3113532"/>
            <a:ext cx="192024" cy="1920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Docs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5800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+ ReDoc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14 Apps, 45 Modeles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73152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868680"/>
            <a:ext cx="502920" cy="50292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9944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Association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FCM Token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490472" y="73152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10512" y="868680"/>
            <a:ext cx="502920" cy="50292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242" y="9944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536192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Membership, Roles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Bureau, Demission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752344" y="73152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072384" y="868680"/>
            <a:ext cx="502920" cy="502920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114" y="9944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98064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tontines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798064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TontineType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MemberSubscription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014216" y="73152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334256" y="868680"/>
            <a:ext cx="502920" cy="50292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986" y="9944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59936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059936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Cycle, 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Pot, Payout, Bid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276088" y="73152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596128" y="868680"/>
            <a:ext cx="502920" cy="50292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858" y="9944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21808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321808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Contribution, Loan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Tresorerie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6537960" y="73152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858000" y="868680"/>
            <a:ext cx="502920" cy="502920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730" y="9944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58368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583680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Election, Vote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7799832" y="73152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119872" y="868680"/>
            <a:ext cx="502920" cy="50292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5602" y="994410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845552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7845552" y="17373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SanctionType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auto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228600" y="283464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" y="3097530"/>
            <a:ext cx="251460" cy="2514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274320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274320" y="3840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850" dirty="0"/>
          </a:p>
        </p:txBody>
      </p:sp>
      <p:sp>
        <p:nvSpPr>
          <p:cNvPr id="43" name="Shape 33"/>
          <p:cNvSpPr/>
          <p:nvPr/>
        </p:nvSpPr>
        <p:spPr>
          <a:xfrm>
            <a:off x="1490472" y="283464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1810512" y="29718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6242" y="3097530"/>
            <a:ext cx="251460" cy="25146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536192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1536192" y="3840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Payment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plans XAF</a:t>
            </a:r>
            <a:endParaRPr lang="en-US" sz="850" dirty="0"/>
          </a:p>
        </p:txBody>
      </p:sp>
      <p:sp>
        <p:nvSpPr>
          <p:cNvPr id="48" name="Shape 37"/>
          <p:cNvSpPr/>
          <p:nvPr/>
        </p:nvSpPr>
        <p:spPr>
          <a:xfrm>
            <a:off x="2752344" y="283464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3072384" y="2971800"/>
            <a:ext cx="502920" cy="50292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8114" y="3097530"/>
            <a:ext cx="251460" cy="25146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2798064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invitations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2798064" y="3840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Onboarding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</a:t>
            </a:r>
            <a:endParaRPr lang="en-US" sz="850" dirty="0"/>
          </a:p>
        </p:txBody>
      </p:sp>
      <p:sp>
        <p:nvSpPr>
          <p:cNvPr id="53" name="Shape 41"/>
          <p:cNvSpPr/>
          <p:nvPr/>
        </p:nvSpPr>
        <p:spPr>
          <a:xfrm>
            <a:off x="4014216" y="283464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42"/>
          <p:cNvSpPr/>
          <p:nvPr/>
        </p:nvSpPr>
        <p:spPr>
          <a:xfrm>
            <a:off x="4334256" y="2971800"/>
            <a:ext cx="502920" cy="50292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9986" y="3097530"/>
            <a:ext cx="251460" cy="25146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4059936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57" name="Text 44"/>
          <p:cNvSpPr/>
          <p:nvPr/>
        </p:nvSpPr>
        <p:spPr>
          <a:xfrm>
            <a:off x="4059936" y="3840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types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canaux</a:t>
            </a:r>
            <a:endParaRPr lang="en-US" sz="850" dirty="0"/>
          </a:p>
        </p:txBody>
      </p:sp>
      <p:sp>
        <p:nvSpPr>
          <p:cNvPr id="58" name="Shape 45"/>
          <p:cNvSpPr/>
          <p:nvPr/>
        </p:nvSpPr>
        <p:spPr>
          <a:xfrm>
            <a:off x="5276088" y="283464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46"/>
          <p:cNvSpPr/>
          <p:nvPr/>
        </p:nvSpPr>
        <p:spPr>
          <a:xfrm>
            <a:off x="5596128" y="2971800"/>
            <a:ext cx="502920" cy="502920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1858" y="3097530"/>
            <a:ext cx="251460" cy="251460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5321808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100" dirty="0"/>
          </a:p>
        </p:txBody>
      </p:sp>
      <p:sp>
        <p:nvSpPr>
          <p:cNvPr id="62" name="Text 48"/>
          <p:cNvSpPr/>
          <p:nvPr/>
        </p:nvSpPr>
        <p:spPr>
          <a:xfrm>
            <a:off x="5321808" y="3840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Jitsi video</a:t>
            </a:r>
            <a:endParaRPr lang="en-US" sz="850" dirty="0"/>
          </a:p>
        </p:txBody>
      </p:sp>
      <p:sp>
        <p:nvSpPr>
          <p:cNvPr id="63" name="Shape 49"/>
          <p:cNvSpPr/>
          <p:nvPr/>
        </p:nvSpPr>
        <p:spPr>
          <a:xfrm>
            <a:off x="6537960" y="283464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Shape 50"/>
          <p:cNvSpPr/>
          <p:nvPr/>
        </p:nvSpPr>
        <p:spPr>
          <a:xfrm>
            <a:off x="6858000" y="2971800"/>
            <a:ext cx="502920" cy="50292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3730" y="3097530"/>
            <a:ext cx="251460" cy="251460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6583680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wallets</a:t>
            </a:r>
            <a:endParaRPr lang="en-US" sz="1100" dirty="0"/>
          </a:p>
        </p:txBody>
      </p:sp>
      <p:sp>
        <p:nvSpPr>
          <p:cNvPr id="67" name="Text 52"/>
          <p:cNvSpPr/>
          <p:nvPr/>
        </p:nvSpPr>
        <p:spPr>
          <a:xfrm>
            <a:off x="6583680" y="3840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WalletEntry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virtuels</a:t>
            </a:r>
            <a:endParaRPr lang="en-US" sz="850" dirty="0"/>
          </a:p>
        </p:txBody>
      </p:sp>
      <p:sp>
        <p:nvSpPr>
          <p:cNvPr id="68" name="Shape 53"/>
          <p:cNvSpPr/>
          <p:nvPr/>
        </p:nvSpPr>
        <p:spPr>
          <a:xfrm>
            <a:off x="7799832" y="2834640"/>
            <a:ext cx="1143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9" name="Shape 54"/>
          <p:cNvSpPr/>
          <p:nvPr/>
        </p:nvSpPr>
        <p:spPr>
          <a:xfrm>
            <a:off x="8119872" y="2971800"/>
            <a:ext cx="502920" cy="50292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5602" y="3097530"/>
            <a:ext cx="251460" cy="251460"/>
          </a:xfrm>
          <a:prstGeom prst="rect">
            <a:avLst/>
          </a:prstGeom>
        </p:spPr>
      </p:pic>
      <p:sp>
        <p:nvSpPr>
          <p:cNvPr id="71" name="Text 55"/>
          <p:cNvSpPr/>
          <p:nvPr/>
        </p:nvSpPr>
        <p:spPr>
          <a:xfrm>
            <a:off x="7845552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proxies</a:t>
            </a:r>
            <a:endParaRPr lang="en-US" sz="1100" dirty="0"/>
          </a:p>
        </p:txBody>
      </p:sp>
      <p:sp>
        <p:nvSpPr>
          <p:cNvPr id="72" name="Text 56"/>
          <p:cNvSpPr/>
          <p:nvPr/>
        </p:nvSpPr>
        <p:spPr>
          <a:xfrm>
            <a:off x="7845552" y="38404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tontine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Multi-Tenancy — Shared DB + association_id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840480" cy="3657600"/>
          </a:xfrm>
          <a:prstGeom prst="rect">
            <a:avLst/>
          </a:prstGeom>
          <a:solidFill>
            <a:srgbClr val="1E25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9728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51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TenantAwareModel — chaque donnee porte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association_id comme FK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TenantAwareManager — auto-filtre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requetes par association active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TenantMiddleware — resout le tenant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header X-Association-Slug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SubscriptionMiddleware — verifie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l'abonnement est valide/actif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74720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User global peut etre membre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 associations simultanement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754880" y="914400"/>
            <a:ext cx="3840480" cy="3657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7" name="Text 10"/>
          <p:cNvSpPr/>
          <p:nvPr/>
        </p:nvSpPr>
        <p:spPr>
          <a:xfrm>
            <a:off x="498348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Couche commune (common/)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9834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— TenantAwareModel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983480" y="1856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managers.py — TenantAwareManager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983480" y="22494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middleware.py — Tenant + Subscription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983480" y="26426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permissions.py — IsAuth, HasAssoc, IsMember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983480" y="3035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mixins.py — TenantViewMixin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98348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decorators.py — @require_feature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98348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exceptions.py — LimitExceededError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Inscription, Auth &amp; Onboarding Invite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60120"/>
            <a:ext cx="457200" cy="4572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Inscription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+ OTP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554480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1168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14600" y="960120"/>
            <a:ext cx="457200" cy="457200"/>
          </a:xfrm>
          <a:prstGeom prst="ellipse">
            <a:avLst/>
          </a:prstGeom>
          <a:solidFill>
            <a:srgbClr val="2C7A5A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084832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Creer 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Rejoindre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8483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une asso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invitation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554480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79476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960120"/>
            <a:ext cx="457200" cy="457200"/>
          </a:xfrm>
          <a:prstGeom prst="ellipse">
            <a:avLst/>
          </a:prstGeom>
          <a:solidFill>
            <a:srgbClr val="E8A948"/>
          </a:solidFill>
          <a:ln/>
        </p:spPr>
      </p:sp>
      <p:sp>
        <p:nvSpPr>
          <p:cNvPr id="17" name="Text 13"/>
          <p:cNvSpPr/>
          <p:nvPr/>
        </p:nvSpPr>
        <p:spPr>
          <a:xfrm>
            <a:off x="42976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867912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86791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WhatsApp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ou email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554480"/>
            <a:ext cx="164592" cy="16459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57784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80760" y="960120"/>
            <a:ext cx="457200" cy="4572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23" name="Text 18"/>
          <p:cNvSpPr/>
          <p:nvPr/>
        </p:nvSpPr>
        <p:spPr>
          <a:xfrm>
            <a:off x="608076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5650992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65099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/check/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existe ?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1554480"/>
            <a:ext cx="164592" cy="16459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60920" y="82296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863840" y="960120"/>
            <a:ext cx="457200" cy="457200"/>
          </a:xfrm>
          <a:prstGeom prst="ellipse">
            <a:avLst/>
          </a:prstGeom>
          <a:solidFill>
            <a:srgbClr val="2C7A5A"/>
          </a:solidFill>
          <a:ln/>
        </p:spPr>
      </p:sp>
      <p:sp>
        <p:nvSpPr>
          <p:cNvPr id="29" name="Text 23"/>
          <p:cNvSpPr/>
          <p:nvPr/>
        </p:nvSpPr>
        <p:spPr>
          <a:xfrm>
            <a:off x="78638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7434072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Acceptation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43407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Register-accept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Login-accept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4864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 Publics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3383280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8"/>
          <p:cNvSpPr/>
          <p:nvPr/>
        </p:nvSpPr>
        <p:spPr>
          <a:xfrm>
            <a:off x="640080" y="33832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/api/auth/register/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206240" y="338328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OTP telephone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48640" y="3712464"/>
            <a:ext cx="8046720" cy="301752"/>
          </a:xfrm>
          <a:prstGeom prst="rect">
            <a:avLst/>
          </a:prstGeom>
          <a:solidFill>
            <a:srgbClr val="F8F4EF"/>
          </a:solidFill>
          <a:ln/>
        </p:spPr>
      </p:sp>
      <p:sp>
        <p:nvSpPr>
          <p:cNvPr id="37" name="Text 31"/>
          <p:cNvSpPr/>
          <p:nvPr/>
        </p:nvSpPr>
        <p:spPr>
          <a:xfrm>
            <a:off x="640080" y="371246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/api/auth/login/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4206240" y="371246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+ JWT access/refresh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48640" y="4041648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4"/>
          <p:cNvSpPr/>
          <p:nvPr/>
        </p:nvSpPr>
        <p:spPr>
          <a:xfrm>
            <a:off x="640080" y="404164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/api/invitations/check/&lt;token&gt;/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4206240" y="404164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 invitation + detecte compte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48640" y="4370832"/>
            <a:ext cx="8046720" cy="301752"/>
          </a:xfrm>
          <a:prstGeom prst="rect">
            <a:avLst/>
          </a:prstGeom>
          <a:solidFill>
            <a:srgbClr val="F8F4EF"/>
          </a:solidFill>
          <a:ln/>
        </p:spPr>
      </p:sp>
      <p:sp>
        <p:nvSpPr>
          <p:cNvPr id="43" name="Text 37"/>
          <p:cNvSpPr/>
          <p:nvPr/>
        </p:nvSpPr>
        <p:spPr>
          <a:xfrm>
            <a:off x="640080" y="43708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/api/invitations/register-accept/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4206240" y="437083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+ acceptation en 1 requete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548640" y="4700016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0"/>
          <p:cNvSpPr/>
          <p:nvPr/>
        </p:nvSpPr>
        <p:spPr>
          <a:xfrm>
            <a:off x="640080" y="470001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/api/invitations/login-accept/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4206240" y="470001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acceptation pour comptes existants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Membres, Roles &amp; Bureau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560320" cy="1463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097280"/>
            <a:ext cx="365760" cy="36576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: actif, suspendu,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exclu, demissionnaire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 auto (TNT...)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914400"/>
            <a:ext cx="2560320" cy="1463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097280"/>
            <a:ext cx="365760" cy="365760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18872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&amp; Permissions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roles systeme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custom + wildcards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(president, tresorier...)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914400"/>
            <a:ext cx="2560320" cy="1463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6" name="Shape 12"/>
          <p:cNvSpPr/>
          <p:nvPr/>
        </p:nvSpPr>
        <p:spPr>
          <a:xfrm>
            <a:off x="6355080" y="1097280"/>
            <a:ext cx="365760" cy="36576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8872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Bureau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officiels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mandats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 par cycle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2743200"/>
            <a:ext cx="2560320" cy="1463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" y="29260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1752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Demande d'adhesion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pending → approved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par le bureau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83280" y="2743200"/>
            <a:ext cx="2560320" cy="1463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6" name="Shape 20"/>
          <p:cNvSpPr/>
          <p:nvPr/>
        </p:nvSpPr>
        <p:spPr>
          <a:xfrm>
            <a:off x="3520440" y="29260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017520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776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Demission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2044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approved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du wallet auto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7920" y="2743200"/>
            <a:ext cx="2560320" cy="1463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1" name="Shape 24"/>
          <p:cNvSpPr/>
          <p:nvPr/>
        </p:nvSpPr>
        <p:spPr>
          <a:xfrm>
            <a:off x="6355080" y="2926080"/>
            <a:ext cx="365760" cy="365760"/>
          </a:xfrm>
          <a:prstGeom prst="ellipse">
            <a:avLst/>
          </a:prstGeom>
          <a:solidFill>
            <a:srgbClr val="E8A94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01752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 etendu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5508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extra_data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Profession, quartier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Parrain, photo CNI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Tontines &amp; Cycles de Vie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192024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tontines, frequence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371600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1760" y="822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51760" y="822960"/>
            <a:ext cx="1920240" cy="45720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seances en cours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37160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46320" y="822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46320" y="822960"/>
            <a:ext cx="19202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1"/>
          <p:cNvSpPr/>
          <p:nvPr/>
        </p:nvSpPr>
        <p:spPr>
          <a:xfrm>
            <a:off x="493776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SEANCES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3776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Appel, cotisations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PV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1371600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040880" y="8229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40880" y="822960"/>
            <a:ext cx="1920240" cy="4572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20" name="Text 15"/>
          <p:cNvSpPr/>
          <p:nvPr/>
        </p:nvSpPr>
        <p:spPr>
          <a:xfrm>
            <a:off x="7132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13232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elections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cycle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Deroulement d'une seance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365760" y="2971800"/>
            <a:ext cx="1097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393192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1148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600200" y="2971800"/>
            <a:ext cx="1097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1627632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64592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presences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834640" y="2971800"/>
            <a:ext cx="1097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2862072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288036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cotisations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069080" y="2971800"/>
            <a:ext cx="1097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4096512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11480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cagnotte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303520" y="2971800"/>
            <a:ext cx="1097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5330952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34924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Prets/remboursements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537960" y="2971800"/>
            <a:ext cx="1097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6565392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58368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7772400" y="2971800"/>
            <a:ext cx="1097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7799832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781812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&amp; cloture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54864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Presences :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1737360" y="3657600"/>
            <a:ext cx="128016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6" name="Text 41"/>
          <p:cNvSpPr/>
          <p:nvPr/>
        </p:nvSpPr>
        <p:spPr>
          <a:xfrm>
            <a:off x="173736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154680" y="3657600"/>
            <a:ext cx="128016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8" name="Text 43"/>
          <p:cNvSpPr/>
          <p:nvPr/>
        </p:nvSpPr>
        <p:spPr>
          <a:xfrm>
            <a:off x="315468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572000" y="3657600"/>
            <a:ext cx="128016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0" name="Text 45"/>
          <p:cNvSpPr/>
          <p:nvPr/>
        </p:nvSpPr>
        <p:spPr>
          <a:xfrm>
            <a:off x="45720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Excuse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5989320" y="3657600"/>
            <a:ext cx="128016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2" name="Text 47"/>
          <p:cNvSpPr/>
          <p:nvPr/>
        </p:nvSpPr>
        <p:spPr>
          <a:xfrm>
            <a:off x="598932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7406640" y="3657600"/>
            <a:ext cx="128016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4" name="Text 49"/>
          <p:cNvSpPr/>
          <p:nvPr/>
        </p:nvSpPr>
        <p:spPr>
          <a:xfrm>
            <a:off x="74066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54864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CycleTontineConfig :</a:t>
            </a:r>
            <a:endParaRPr lang="en-US" sz="1100" dirty="0"/>
          </a:p>
        </p:txBody>
      </p:sp>
      <p:sp>
        <p:nvSpPr>
          <p:cNvPr id="56" name="Text 51"/>
          <p:cNvSpPr/>
          <p:nvPr/>
        </p:nvSpPr>
        <p:spPr>
          <a:xfrm>
            <a:off x="2377440" y="41148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default_method (heritee) + allow_override + auction_premium_destination + config JSON avancee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Cagnotte — Distribution Multi-Beneficiaires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560320" cy="1005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2560320" cy="45720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payees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auto-agregees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234440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914400"/>
            <a:ext cx="2560320" cy="1005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8"/>
          <p:cNvSpPr/>
          <p:nvPr/>
        </p:nvSpPr>
        <p:spPr>
          <a:xfrm>
            <a:off x="3429000" y="914400"/>
            <a:ext cx="2560320" cy="4572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2" name="Text 9"/>
          <p:cNvSpPr/>
          <p:nvPr/>
        </p:nvSpPr>
        <p:spPr>
          <a:xfrm>
            <a:off x="3538728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SessionPot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38728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+ Report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Prime enchere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914400"/>
            <a:ext cx="2560320" cy="1005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914400"/>
            <a:ext cx="2560320" cy="4572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17" name="Text 13"/>
          <p:cNvSpPr/>
          <p:nvPr/>
        </p:nvSpPr>
        <p:spPr>
          <a:xfrm>
            <a:off x="6419088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BeneficiaryPayout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19088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beneficiaires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partiels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Methodes d'acquisition — Enum harmonise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2423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CycleTontineConfig.default_method  -&gt;  SessionPot.effective_method  -&gt;  BeneficiaryPayout.acquisition_method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48640" y="2788920"/>
            <a:ext cx="128016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2" name="Shape 18"/>
          <p:cNvSpPr/>
          <p:nvPr/>
        </p:nvSpPr>
        <p:spPr>
          <a:xfrm>
            <a:off x="548640" y="2788920"/>
            <a:ext cx="1280160" cy="36576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23" name="Text 19"/>
          <p:cNvSpPr/>
          <p:nvPr/>
        </p:nvSpPr>
        <p:spPr>
          <a:xfrm>
            <a:off x="621792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21792" y="3063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965960" y="2788920"/>
            <a:ext cx="128016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6" name="Shape 22"/>
          <p:cNvSpPr/>
          <p:nvPr/>
        </p:nvSpPr>
        <p:spPr>
          <a:xfrm>
            <a:off x="1965960" y="2788920"/>
            <a:ext cx="1280160" cy="36576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27" name="Text 23"/>
          <p:cNvSpPr/>
          <p:nvPr/>
        </p:nvSpPr>
        <p:spPr>
          <a:xfrm>
            <a:off x="2039112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039112" y="3063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role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383280" y="2788920"/>
            <a:ext cx="128016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0" name="Shape 26"/>
          <p:cNvSpPr/>
          <p:nvPr/>
        </p:nvSpPr>
        <p:spPr>
          <a:xfrm>
            <a:off x="3383280" y="2788920"/>
            <a:ext cx="12801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3456432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456432" y="3063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Enchere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800600" y="2788920"/>
            <a:ext cx="128016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4" name="Shape 30"/>
          <p:cNvSpPr/>
          <p:nvPr/>
        </p:nvSpPr>
        <p:spPr>
          <a:xfrm>
            <a:off x="4800600" y="2788920"/>
            <a:ext cx="1280160" cy="36576"/>
          </a:xfrm>
          <a:prstGeom prst="rect">
            <a:avLst/>
          </a:prstGeom>
          <a:solidFill>
            <a:srgbClr val="8B6CDB"/>
          </a:solidFill>
          <a:ln/>
        </p:spPr>
      </p:sp>
      <p:sp>
        <p:nvSpPr>
          <p:cNvPr id="35" name="Text 31"/>
          <p:cNvSpPr/>
          <p:nvPr/>
        </p:nvSpPr>
        <p:spPr>
          <a:xfrm>
            <a:off x="4873752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873752" y="3063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217920" y="2788920"/>
            <a:ext cx="128016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8" name="Shape 34"/>
          <p:cNvSpPr/>
          <p:nvPr/>
        </p:nvSpPr>
        <p:spPr>
          <a:xfrm>
            <a:off x="6217920" y="2788920"/>
            <a:ext cx="12801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5"/>
          <p:cNvSpPr/>
          <p:nvPr/>
        </p:nvSpPr>
        <p:spPr>
          <a:xfrm>
            <a:off x="6291072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need_based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291072" y="3063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635240" y="2788920"/>
            <a:ext cx="128016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42" name="Shape 38"/>
          <p:cNvSpPr/>
          <p:nvPr/>
        </p:nvSpPr>
        <p:spPr>
          <a:xfrm>
            <a:off x="7635240" y="2788920"/>
            <a:ext cx="128016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3" name="Text 39"/>
          <p:cNvSpPr/>
          <p:nvPr/>
        </p:nvSpPr>
        <p:spPr>
          <a:xfrm>
            <a:off x="7708392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7708392" y="30632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548640" y="3520440"/>
            <a:ext cx="8046720" cy="13716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46" name="Shape 42"/>
          <p:cNvSpPr/>
          <p:nvPr/>
        </p:nvSpPr>
        <p:spPr>
          <a:xfrm>
            <a:off x="548640" y="3520440"/>
            <a:ext cx="54864" cy="137160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7" name="Text 43"/>
          <p:cNvSpPr/>
          <p:nvPr/>
        </p:nvSpPr>
        <p:spPr>
          <a:xfrm>
            <a:off x="77724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BeneficiaryPayout — Fidele au formulaire papier</a:t>
            </a:r>
            <a:endParaRPr lang="en-US" sz="120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128016" cy="128016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960120" y="39044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shares_claimed / shares_total — noms pris vs noms souscrits</a:t>
            </a:r>
            <a:endParaRPr lang="en-US" sz="95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14800"/>
            <a:ext cx="128016" cy="128016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960120" y="4087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payout_method — cash, mobile_money, bank_transfer, cheque</a:t>
            </a:r>
            <a:endParaRPr lang="en-US" sz="950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128016" cy="128016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960120" y="42702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guarantor + guarantor_cni_number — avaliste avec piece d'identite</a:t>
            </a:r>
            <a:endParaRPr lang="en-US" sz="95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480560"/>
            <a:ext cx="128016" cy="128016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960120" y="44531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confirmation_receipt — numero de recu de versement</a:t>
            </a:r>
            <a:endParaRPr lang="en-US" sz="95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663440"/>
            <a:ext cx="128016" cy="128016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960120" y="463600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auto du reliquat (remainder → carry_over_in seance suivante)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Wallets Virtuels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20640" y="256032"/>
            <a:ext cx="1097280" cy="292608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256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membre actif a un Wallet cree automatiquement (signal post_save). Le wallet trace les credits et debits virtuels tout au long du cycle.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cloture du cycle, le solde net determine ce que l'association doit au membre (positif) ou reclame (negatif).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wallet est gele automatiquement en cas de demission (signal sur Resignation).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914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(WalletEntry)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83480" y="1325880"/>
            <a:ext cx="59436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25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auction_premium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7804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d'enchere distribuee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83480" y="1737360"/>
            <a:ext cx="59436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7373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loan_interest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780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Interet de pret rembourse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83480" y="2148840"/>
            <a:ext cx="59436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148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sanction_payment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7804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payee par un membre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83480" y="2560320"/>
            <a:ext cx="59436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5603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contribution_default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780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 impayee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83480" y="2971800"/>
            <a:ext cx="59436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9718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default_compensation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804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collective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83480" y="3383280"/>
            <a:ext cx="59436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3832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7804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Depense distribuee (repas...)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83480" y="3794760"/>
            <a:ext cx="5943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7947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manual_adjustment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7804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tresorier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8348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par association (settings.wallet) : auto_compensate_defaults, compensation_sources, rounding_target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Procurations (Proxies)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120640" y="320040"/>
            <a:ext cx="1097280" cy="292608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920240" cy="18288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143000"/>
            <a:ext cx="457200" cy="4572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cree la procuration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 le 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raison + CNI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1737360"/>
            <a:ext cx="201168" cy="2011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560320" y="1005840"/>
            <a:ext cx="1920240" cy="18288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6120" y="1143000"/>
            <a:ext cx="457200" cy="457200"/>
          </a:xfrm>
          <a:prstGeom prst="ellipse">
            <a:avLst/>
          </a:prstGeom>
          <a:solidFill>
            <a:srgbClr val="2C7A5A"/>
          </a:solidFill>
          <a:ln/>
        </p:spPr>
      </p:sp>
      <p:sp>
        <p:nvSpPr>
          <p:cNvPr id="15" name="Text 12"/>
          <p:cNvSpPr/>
          <p:nvPr/>
        </p:nvSpPr>
        <p:spPr>
          <a:xfrm>
            <a:off x="32461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5176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Bureau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approuve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5176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note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auto-approve)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37360"/>
            <a:ext cx="201168" cy="2011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754880" y="1005840"/>
            <a:ext cx="1920240" cy="18288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0" name="Shape 16"/>
          <p:cNvSpPr/>
          <p:nvPr/>
        </p:nvSpPr>
        <p:spPr>
          <a:xfrm>
            <a:off x="5440680" y="1143000"/>
            <a:ext cx="457200" cy="457200"/>
          </a:xfrm>
          <a:prstGeom prst="ellipse">
            <a:avLst/>
          </a:prstGeom>
          <a:solidFill>
            <a:srgbClr val="E8A948"/>
          </a:solidFill>
          <a:ln/>
        </p:spPr>
      </p:sp>
      <p:sp>
        <p:nvSpPr>
          <p:cNvPr id="21" name="Text 17"/>
          <p:cNvSpPr/>
          <p:nvPr/>
        </p:nvSpPr>
        <p:spPr>
          <a:xfrm>
            <a:off x="54406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8463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collecte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physiquement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4632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quote-part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au principal</a:t>
            </a:r>
            <a:endParaRPr lang="en-US" sz="9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737360"/>
            <a:ext cx="201168" cy="20116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949440" y="1005840"/>
            <a:ext cx="1920240" cy="18288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6" name="Shape 21"/>
          <p:cNvSpPr/>
          <p:nvPr/>
        </p:nvSpPr>
        <p:spPr>
          <a:xfrm>
            <a:off x="7635240" y="1143000"/>
            <a:ext cx="457200" cy="457200"/>
          </a:xfrm>
          <a:prstGeom prst="ellipse">
            <a:avLst/>
          </a:prstGeom>
          <a:solidFill>
            <a:srgbClr val="8B6CDB"/>
          </a:solidFill>
          <a:ln/>
        </p:spPr>
      </p:sp>
      <p:sp>
        <p:nvSpPr>
          <p:cNvPr id="27" name="Text 22"/>
          <p:cNvSpPr/>
          <p:nvPr/>
        </p:nvSpPr>
        <p:spPr>
          <a:xfrm>
            <a:off x="76352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704088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Consommee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04088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Liee au payout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used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1E253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46120"/>
            <a:ext cx="128016" cy="12801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2688" y="3218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unique : 1 procuration active par (principal, session, tontine_type)</a:t>
            </a:r>
            <a:endParaRPr lang="en-US" sz="9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83864"/>
            <a:ext cx="128016" cy="12801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32688" y="34564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: signed_document, signature_image, cni_image (pieces scannees)</a:t>
            </a:r>
            <a:endParaRPr lang="en-US" sz="9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21608"/>
            <a:ext cx="128016" cy="12801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32688" y="36941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SessionAttendance du principal en REPRESENTED</a:t>
            </a:r>
            <a:endParaRPr lang="en-US" sz="9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959352"/>
            <a:ext cx="128016" cy="12801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32688" y="39319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find_active_for_payout() — match exact tontine puis fallback global</a:t>
            </a:r>
            <a:endParaRPr lang="en-US" sz="95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197096"/>
            <a:ext cx="128016" cy="12801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32688" y="4169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expire_unused_after_session() — APPROVED non utilisees → EXPIRED</a:t>
            </a:r>
            <a:endParaRPr lang="en-US" sz="95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434840"/>
            <a:ext cx="128016" cy="12801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32688" y="44074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par asso : require_document (true/false), require_approval (true/false)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— Cotisations, Prets &amp; Tresorerie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777240"/>
            <a:ext cx="54864" cy="1737360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60120"/>
            <a:ext cx="365760" cy="36576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 par membre/session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attendu, paye, partiel, impaye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 + methode paiement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77724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777240"/>
            <a:ext cx="54864" cy="173736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960120"/>
            <a:ext cx="365760" cy="36576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&amp; Repayment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417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pret, approbation bureau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Garants, taux d'interet, echeances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remboursements partiels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78892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2788920"/>
            <a:ext cx="54864" cy="17373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E8A94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6324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TreasuryAccount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31520" y="3429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: caisse, banque, MoMo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temps reel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Multi-comptes par association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78892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788920"/>
            <a:ext cx="54864" cy="1737360"/>
          </a:xfrm>
          <a:prstGeom prst="rect">
            <a:avLst/>
          </a:prstGeom>
          <a:solidFill>
            <a:srgbClr val="8B6CDB"/>
          </a:solidFill>
          <a:ln/>
        </p:spPr>
      </p:sp>
      <p:sp>
        <p:nvSpPr>
          <p:cNvPr id="23" name="Shape 18"/>
          <p:cNvSpPr/>
          <p:nvPr/>
        </p:nvSpPr>
        <p:spPr>
          <a:xfrm>
            <a:off x="4937760" y="2971800"/>
            <a:ext cx="365760" cy="365760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6324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429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comptable complet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: cotisation, pret, sanction...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Debit/credit + balance_after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&amp; Notifications Temps Reel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840480" cy="3749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138428"/>
            <a:ext cx="173736" cy="173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Messagerie Interne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: prive, groupe, bureau, session, general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1892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(Django Channels) temps reel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31720"/>
            <a:ext cx="146304" cy="146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Jitsi integration — appels video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43200"/>
            <a:ext cx="146304" cy="14630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2715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indicator, fichiers, audio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54680"/>
            <a:ext cx="146304" cy="14630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012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Reply-to + soft delete</a:t>
            </a:r>
            <a:endParaRPr lang="en-US" sz="1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566160"/>
            <a:ext cx="146304" cy="14630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6012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Auto-ajout canal general (signal)</a:t>
            </a:r>
            <a:endParaRPr lang="en-US" sz="10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977640"/>
            <a:ext cx="146304" cy="14630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6012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1108L, auth JWT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4754880" y="914400"/>
            <a:ext cx="3840480" cy="3749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4" name="Shape 14"/>
          <p:cNvSpPr/>
          <p:nvPr/>
        </p:nvSpPr>
        <p:spPr>
          <a:xfrm>
            <a:off x="4937760" y="1051560"/>
            <a:ext cx="347472" cy="347472"/>
          </a:xfrm>
          <a:prstGeom prst="ellipse">
            <a:avLst/>
          </a:prstGeom>
          <a:solidFill>
            <a:srgbClr val="E8A948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4628" y="1138428"/>
            <a:ext cx="173736" cy="17373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9496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Multi-Canal</a:t>
            </a:r>
            <a:endParaRPr lang="en-US" sz="14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1508760"/>
            <a:ext cx="146304" cy="14630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6636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types (member_joined ... subscription_expired)</a:t>
            </a:r>
            <a:endParaRPr lang="en-US" sz="10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1920240"/>
            <a:ext cx="146304" cy="14630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166360" y="1892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canaux : in-app, email, SMS, WhatsApp, push</a:t>
            </a:r>
            <a:endParaRPr lang="en-US" sz="10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2331720"/>
            <a:ext cx="146304" cy="146304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16636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(FCMToken)</a:t>
            </a:r>
            <a:endParaRPr lang="en-US" sz="10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2743200"/>
            <a:ext cx="146304" cy="146304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166360" y="2715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par membre (mute, heures calmes)</a:t>
            </a:r>
            <a:endParaRPr lang="en-US" sz="10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3154680"/>
            <a:ext cx="146304" cy="146304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16636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centralise</a:t>
            </a:r>
            <a:endParaRPr lang="en-US" sz="10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3566160"/>
            <a:ext cx="146304" cy="146304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16636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 (pending → delivered)</a:t>
            </a:r>
            <a:endParaRPr lang="en-US" sz="10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7760" y="3977640"/>
            <a:ext cx="146304" cy="146304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16636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async dispatch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d'Abonnement — Modele Volume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fonctionnalites sont incluses dans chaque plan. Le tarif depend du volume (cagnotte mensuelle OU nombre de membres), mesure sur 90 jours.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298448" cy="411480"/>
          </a:xfrm>
          <a:prstGeom prst="rect">
            <a:avLst/>
          </a:prstGeom>
          <a:solidFill>
            <a:srgbClr val="F0E6D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4124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488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100K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membres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08960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764792" y="960120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764792" y="960120"/>
            <a:ext cx="1298448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5"/>
          <p:cNvSpPr/>
          <p:nvPr/>
        </p:nvSpPr>
        <p:spPr>
          <a:xfrm>
            <a:off x="1764792" y="9601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810512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4 000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810512" y="17373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993392" y="2011680"/>
            <a:ext cx="84124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1810512" y="21488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810512" y="22860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100K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10512" y="26060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membres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810512" y="27432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10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3108960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810512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209544" y="960120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209544" y="960120"/>
            <a:ext cx="1298448" cy="4114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0" name="Text 26"/>
          <p:cNvSpPr/>
          <p:nvPr/>
        </p:nvSpPr>
        <p:spPr>
          <a:xfrm>
            <a:off x="3209544" y="9601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Quartier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3255264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7 500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3255264" y="17373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438144" y="2011680"/>
            <a:ext cx="84124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0"/>
          <p:cNvSpPr/>
          <p:nvPr/>
        </p:nvSpPr>
        <p:spPr>
          <a:xfrm>
            <a:off x="3255264" y="21488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255264" y="22860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250K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3255264" y="26060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membres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3255264" y="27432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15</a:t>
            </a:r>
            <a:endParaRPr lang="en-US" sz="12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3108960"/>
            <a:ext cx="164592" cy="16459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255264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4654296" y="960120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654296" y="960120"/>
            <a:ext cx="1298448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2" name="Text 37"/>
          <p:cNvSpPr/>
          <p:nvPr/>
        </p:nvSpPr>
        <p:spPr>
          <a:xfrm>
            <a:off x="4654296" y="9601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4700016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25 000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4700016" y="17373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4882896" y="2011680"/>
            <a:ext cx="84124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1"/>
          <p:cNvSpPr/>
          <p:nvPr/>
        </p:nvSpPr>
        <p:spPr>
          <a:xfrm>
            <a:off x="4700016" y="21488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4700016" y="22860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1M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4700016" y="26060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membres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4700016" y="27432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30</a:t>
            </a:r>
            <a:endParaRPr lang="en-US" sz="120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108960"/>
            <a:ext cx="164592" cy="16459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4700016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6099048" y="960120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6099048" y="960120"/>
            <a:ext cx="1298448" cy="41148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54" name="Text 48"/>
          <p:cNvSpPr/>
          <p:nvPr/>
        </p:nvSpPr>
        <p:spPr>
          <a:xfrm>
            <a:off x="6099048" y="9601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VIP</a:t>
            </a:r>
            <a:endParaRPr lang="en-US" sz="1300" dirty="0"/>
          </a:p>
        </p:txBody>
      </p:sp>
      <p:sp>
        <p:nvSpPr>
          <p:cNvPr id="55" name="Text 49"/>
          <p:cNvSpPr/>
          <p:nvPr/>
        </p:nvSpPr>
        <p:spPr>
          <a:xfrm>
            <a:off x="6144768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50 000</a:t>
            </a:r>
            <a:endParaRPr lang="en-US" sz="1600" dirty="0"/>
          </a:p>
        </p:txBody>
      </p:sp>
      <p:sp>
        <p:nvSpPr>
          <p:cNvPr id="56" name="Text 50"/>
          <p:cNvSpPr/>
          <p:nvPr/>
        </p:nvSpPr>
        <p:spPr>
          <a:xfrm>
            <a:off x="6144768" y="17373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6327648" y="2011680"/>
            <a:ext cx="84124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2"/>
          <p:cNvSpPr/>
          <p:nvPr/>
        </p:nvSpPr>
        <p:spPr>
          <a:xfrm>
            <a:off x="6144768" y="21488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6144768" y="22860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30M</a:t>
            </a:r>
            <a:endParaRPr lang="en-US" sz="1200" dirty="0"/>
          </a:p>
        </p:txBody>
      </p:sp>
      <p:sp>
        <p:nvSpPr>
          <p:cNvPr id="60" name="Text 54"/>
          <p:cNvSpPr/>
          <p:nvPr/>
        </p:nvSpPr>
        <p:spPr>
          <a:xfrm>
            <a:off x="6144768" y="26060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membres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>
            <a:off x="6144768" y="27432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50</a:t>
            </a:r>
            <a:endParaRPr lang="en-US" sz="1200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108960"/>
            <a:ext cx="164592" cy="164592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6144768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800" dirty="0"/>
          </a:p>
        </p:txBody>
      </p:sp>
      <p:sp>
        <p:nvSpPr>
          <p:cNvPr id="64" name="Shape 57"/>
          <p:cNvSpPr/>
          <p:nvPr/>
        </p:nvSpPr>
        <p:spPr>
          <a:xfrm>
            <a:off x="7543800" y="960120"/>
            <a:ext cx="1298448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7543800" y="960120"/>
            <a:ext cx="1298448" cy="41148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66" name="Text 59"/>
          <p:cNvSpPr/>
          <p:nvPr/>
        </p:nvSpPr>
        <p:spPr>
          <a:xfrm>
            <a:off x="7543800" y="9601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President</a:t>
            </a:r>
            <a:endParaRPr lang="en-US" sz="1300" dirty="0"/>
          </a:p>
        </p:txBody>
      </p:sp>
      <p:sp>
        <p:nvSpPr>
          <p:cNvPr id="67" name="Text 60"/>
          <p:cNvSpPr/>
          <p:nvPr/>
        </p:nvSpPr>
        <p:spPr>
          <a:xfrm>
            <a:off x="7589520" y="1463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75 000</a:t>
            </a:r>
            <a:endParaRPr lang="en-US" sz="1600" dirty="0"/>
          </a:p>
        </p:txBody>
      </p:sp>
      <p:sp>
        <p:nvSpPr>
          <p:cNvPr id="68" name="Text 61"/>
          <p:cNvSpPr/>
          <p:nvPr/>
        </p:nvSpPr>
        <p:spPr>
          <a:xfrm>
            <a:off x="7589520" y="17373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900" dirty="0"/>
          </a:p>
        </p:txBody>
      </p:sp>
      <p:sp>
        <p:nvSpPr>
          <p:cNvPr id="69" name="Shape 62"/>
          <p:cNvSpPr/>
          <p:nvPr/>
        </p:nvSpPr>
        <p:spPr>
          <a:xfrm>
            <a:off x="7772400" y="2011680"/>
            <a:ext cx="84124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3"/>
          <p:cNvSpPr/>
          <p:nvPr/>
        </p:nvSpPr>
        <p:spPr>
          <a:xfrm>
            <a:off x="7589520" y="21488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Cagnotte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7589520" y="22860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50M</a:t>
            </a:r>
            <a:endParaRPr lang="en-US" sz="1200" dirty="0"/>
          </a:p>
        </p:txBody>
      </p:sp>
      <p:sp>
        <p:nvSpPr>
          <p:cNvPr id="72" name="Text 65"/>
          <p:cNvSpPr/>
          <p:nvPr/>
        </p:nvSpPr>
        <p:spPr>
          <a:xfrm>
            <a:off x="7589520" y="260604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membres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7589520" y="27432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100</a:t>
            </a:r>
            <a:endParaRPr lang="en-US" sz="1200" dirty="0"/>
          </a:p>
        </p:txBody>
      </p:sp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108960"/>
            <a:ext cx="164592" cy="164592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7589520" y="3246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</a:t>
            </a:r>
            <a:endParaRPr lang="en-US" sz="800" dirty="0"/>
          </a:p>
        </p:txBody>
      </p:sp>
      <p:sp>
        <p:nvSpPr>
          <p:cNvPr id="76" name="Shape 68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7" name="Shape 69"/>
          <p:cNvSpPr/>
          <p:nvPr/>
        </p:nvSpPr>
        <p:spPr>
          <a:xfrm>
            <a:off x="548640" y="3931920"/>
            <a:ext cx="54864" cy="50292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78" name="Text 70"/>
          <p:cNvSpPr/>
          <p:nvPr/>
        </p:nvSpPr>
        <p:spPr>
          <a:xfrm>
            <a:off x="777240" y="3959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Mesure sur 90 jours</a:t>
            </a:r>
            <a:endParaRPr lang="en-US" sz="1200" dirty="0"/>
          </a:p>
        </p:txBody>
      </p:sp>
      <p:sp>
        <p:nvSpPr>
          <p:cNvPr id="79" name="Text 71"/>
          <p:cNvSpPr/>
          <p:nvPr/>
        </p:nvSpPr>
        <p:spPr>
          <a:xfrm>
            <a:off x="777240" y="4160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systeme evalue automatiquement la cagnotte mensuelle moyenne ET le nombre de membres actifs sur les 90 derniers jours pour determiner le plan applicable. Upgrade automatique si les seuils sont depasses.</a:t>
            </a:r>
            <a:endParaRPr lang="en-US" sz="950" dirty="0"/>
          </a:p>
        </p:txBody>
      </p:sp>
      <p:sp>
        <p:nvSpPr>
          <p:cNvPr id="80" name="Text 72"/>
          <p:cNvSpPr/>
          <p:nvPr/>
        </p:nvSpPr>
        <p:spPr>
          <a:xfrm>
            <a:off x="54864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 de paiement</a:t>
            </a:r>
            <a:endParaRPr lang="en-US" sz="1100" dirty="0"/>
          </a:p>
        </p:txBody>
      </p:sp>
      <p:sp>
        <p:nvSpPr>
          <p:cNvPr id="81" name="Text 73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RecommendedPlanView (auto-suggestion) → InitiatePaymentView (reference unique) → ConfirmPaymentView (webhook/manuel) → CancelSubscriptionView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Celery-Beat — Automatisation Complete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88720"/>
            <a:ext cx="45720" cy="36576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seance 24h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8h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send_session_reminders(24)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1572768"/>
            <a:ext cx="804672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1572768"/>
            <a:ext cx="45720" cy="36576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seance 2h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30min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send_session_reminders(2)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1956816"/>
            <a:ext cx="8046720" cy="365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1956816"/>
            <a:ext cx="45720" cy="365760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1956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pret 3 jours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9h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0" y="1956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send_loan_reminders(3)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340864"/>
            <a:ext cx="804672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340864"/>
            <a:ext cx="45720" cy="365760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340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pret jour J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2340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8h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23408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send_loan_reminders(0)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2724912"/>
            <a:ext cx="8046720" cy="365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2724912"/>
            <a:ext cx="45720" cy="365760"/>
          </a:xfrm>
          <a:prstGeom prst="rect">
            <a:avLst/>
          </a:prstGeom>
          <a:solidFill>
            <a:srgbClr val="2C7A5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2724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Prets en retard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27249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10h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check_overdue_loans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108960"/>
            <a:ext cx="457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impayees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18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18h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send_contribution_reminders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3493008"/>
            <a:ext cx="8046720" cy="365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3493008"/>
            <a:ext cx="45720" cy="365760"/>
          </a:xfrm>
          <a:prstGeom prst="rect">
            <a:avLst/>
          </a:prstGeom>
          <a:solidFill>
            <a:srgbClr val="8B6CDB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3493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expirant (3j)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91840" y="3493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9h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1208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check_expiring_trials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3877056"/>
            <a:ext cx="804672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3877056"/>
            <a:ext cx="45720" cy="365760"/>
          </a:xfrm>
          <a:prstGeom prst="rect">
            <a:avLst/>
          </a:prstGeom>
          <a:solidFill>
            <a:srgbClr val="8B6CDB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3877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expires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91840" y="38770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00h30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12080" y="3877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expire_overdue_subscriptions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4261104"/>
            <a:ext cx="8046720" cy="365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4261104"/>
            <a:ext cx="457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42611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perimees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9184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1h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1208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expire_old_invitations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send_session_live_reminders(session_id) — declenchee manuellement pendant la seance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Securite &amp; Controle d'Acces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960120"/>
            <a:ext cx="365760" cy="365760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+ OTP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Access/Refresh tokens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OTP telephone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Token pour push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77724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960120"/>
            <a:ext cx="365760" cy="365760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5156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Permissions DRF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IsAuthenticated, HasAssociation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IsMember, HasPermission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(*) pour admin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78892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2971800"/>
            <a:ext cx="365760" cy="365760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Flags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8580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@require_feature('loans_enabled')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par plan d'abonnement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JSONField sur Plan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78892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2971800"/>
            <a:ext cx="365760" cy="365760"/>
          </a:xfrm>
          <a:prstGeom prst="ellipse">
            <a:avLst/>
          </a:prstGeom>
          <a:solidFill>
            <a:srgbClr val="E8A94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9204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par user/IP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+ CORS configure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brute-force OTP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 — 100+ Endpoints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91440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914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143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login, OTP, profil, associations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/api/members/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914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143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Membres, roles, bureau, adhesion, demission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50876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/api/cycles/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155448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5544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Cycles, sessions, pots, payouts, encheres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50876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/api/finance/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55448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5544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Cotisations, prets, remboursements, tresorerie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14884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/api/subscriptions/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219456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21945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2423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paiements, upgrade, annulation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14884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194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/api/wallets/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219456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1945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423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Solde, historique, distribution, cloture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278892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/api/invitations/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51760" y="283464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28346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Envoi, check, register-accept, login-accept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78892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/api/chat/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283464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28346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Conversations, messages, groupes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42900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/api/notifications/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51760" y="347472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48" name="Text 46"/>
          <p:cNvSpPr/>
          <p:nvPr/>
        </p:nvSpPr>
        <p:spPr>
          <a:xfrm>
            <a:off x="2651760" y="3474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" y="3703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mark-read, preferences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42900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/api/proxies/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58000" y="347472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0" y="3474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6320" y="3703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Creer, approuver, annuler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406908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/api/governance/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51760" y="411480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58" name="Text 56"/>
          <p:cNvSpPr/>
          <p:nvPr/>
        </p:nvSpPr>
        <p:spPr>
          <a:xfrm>
            <a:off x="2651760" y="4114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" y="4343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elections, votes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069080"/>
            <a:ext cx="3840480" cy="548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/api/sanctions/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58000" y="4114800"/>
            <a:ext cx="320040" cy="228600"/>
          </a:xfrm>
          <a:prstGeom prst="ellipse">
            <a:avLst/>
          </a:prstGeom>
          <a:solidFill>
            <a:srgbClr val="D4763B"/>
          </a:solidFill>
          <a:ln/>
        </p:spPr>
      </p:sp>
      <p:sp>
        <p:nvSpPr>
          <p:cNvPr id="63" name="Text 61"/>
          <p:cNvSpPr/>
          <p:nvPr/>
        </p:nvSpPr>
        <p:spPr>
          <a:xfrm>
            <a:off x="6858000" y="4114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46320" y="4343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application, grace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interactive : /swagger/ (Swagger UI) &amp; /redoc/ (ReDoc)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2860"/>
          </a:xfrm>
          <a:prstGeom prst="rect">
            <a:avLst/>
          </a:prstGeom>
          <a:solidFill>
            <a:srgbClr val="E8A94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Etapes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347472" cy="347472"/>
          </a:xfrm>
          <a:prstGeom prst="ellipse">
            <a:avLst/>
          </a:prstGeom>
          <a:solidFill>
            <a:srgbClr val="D476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824228"/>
            <a:ext cx="173736" cy="173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91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Mobile (React Native / Flutter)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947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mobile-first pour iOS &amp; Android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331720"/>
            <a:ext cx="347472" cy="347472"/>
          </a:xfrm>
          <a:prstGeom prst="ellipse">
            <a:avLst/>
          </a:prstGeom>
          <a:solidFill>
            <a:srgbClr val="2C7A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2418588"/>
            <a:ext cx="173736" cy="173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Web (React / Next.js)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34440" y="2542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d'administration pour le bureau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2926080"/>
            <a:ext cx="347472" cy="347472"/>
          </a:xfrm>
          <a:prstGeom prst="ellipse">
            <a:avLst/>
          </a:prstGeom>
          <a:solidFill>
            <a:srgbClr val="8B6CD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3012948"/>
            <a:ext cx="173736" cy="1737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d'integration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34440" y="3136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&gt; 80% sur les services critiques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1520" y="3520440"/>
            <a:ext cx="347472" cy="347472"/>
          </a:xfrm>
          <a:prstGeom prst="ellipse">
            <a:avLst/>
          </a:prstGeom>
          <a:solidFill>
            <a:srgbClr val="E8A94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3607308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474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Deploiement Production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234440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 + monitoring + HTTPS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1520" y="411480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4201668"/>
            <a:ext cx="173736" cy="1737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234440" y="4325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WhatsApp/SMS, Mobile Money, Firebase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TontineX360 — Digitalisez vos associations camerounaises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TontineX360 — Workflow Complet</dc:title>
  <dc:subject>PptxGenJS Presentation</dc:subject>
  <dc:creator>Audrey</dc:creator>
  <cp:lastModifiedBy>Audrey</cp:lastModifiedBy>
  <cp:revision>1</cp:revision>
  <dcterms:created xsi:type="dcterms:W3CDTF">2026-04-29T07:59:37Z</dcterms:created>
  <dcterms:modified xsi:type="dcterms:W3CDTF">2026-04-29T07:59:37Z</dcterms:modified>
</cp:coreProperties>
</file>